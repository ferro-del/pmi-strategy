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Demand (juta)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Caregiving &amp; Healthcare</c:v>
                  </c:pt>
                  <c:pt idx="1">
                    <c:v>Construction &amp; Trades</c:v>
                  </c:pt>
                  <c:pt idx="2">
                    <c:v>Manufacturing</c:v>
                  </c:pt>
                  <c:pt idx="3">
                    <c:v>Hospitality &amp; F&amp;B</c:v>
                  </c:pt>
                  <c:pt idx="4">
                    <c:v>Domestic Services</c:v>
                  </c:pt>
                  <c:pt idx="5">
                    <c:v>Agriculture &amp; Fisheries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2.7</c:v>
                </c:pt>
                <c:pt idx="1">
                  <c:v>1.85</c:v>
                </c:pt>
                <c:pt idx="2">
                  <c:v>0.38</c:v>
                </c:pt>
                <c:pt idx="3">
                  <c:v>0.74</c:v>
                </c:pt>
                <c:pt idx="4">
                  <c:v>3.5</c:v>
                </c:pt>
                <c:pt idx="5">
                  <c:v>0.23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Demand (juta posisi)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657600" cy="3657600"/>
          </a:xfrm>
          <a:prstGeom prst="ellipse">
            <a:avLst/>
          </a:prstGeom>
          <a:solidFill>
            <a:srgbClr val="660000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8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PENEMPATAN PMI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Era Pekerja Vokasi Terampil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4114800"/>
            <a:ext cx="1828800" cy="0"/>
          </a:xfrm>
          <a:prstGeom prst="line">
            <a:avLst/>
          </a:prstGeom>
          <a:noFill/>
          <a:ln w="50800">
            <a:solidFill>
              <a:srgbClr val="F4B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389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Pemetaan 16 Negara · 69+ Jenis Visa · 6,5 Juta Posisi Terbuka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untuk Kementerian Pelindungan Pekerja Migran Indonesia ·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5 menit ini, Anda akan tahu: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Pintu Strategis untuk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500.000 PMI Skilled Worker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36118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1089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Negara mana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44805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 gap terbesar untuk Indonesia — bukan tebakan, datanya jelas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2926080"/>
            <a:ext cx="36118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31089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36576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role apa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09160" y="44805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Indonesia bisa menangkan dari Filipina, Vietnam, India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0" y="2926080"/>
            <a:ext cx="36118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31089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03920" y="36576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konkret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503920" y="44805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dieksekusi dalam 12 bulan ke depan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Penempatan PMI · KemenP2MI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hari ini: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297.434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ditempatkan 2024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11887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640080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masih bekerja sebagai PRT/PLRT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1088136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0233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TKI Domestik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"Indonesia Skilled Worker."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baru. Pasar baru. Upah baru.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Penempatan PMI · KemenP2MI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MENGEJUTKAN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terbesar Indonesia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yang kita pikir.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5440680" cy="33832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2608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PERSEPSI POPULER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 Saudi &amp; Malaysia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"Pasar tradisional PMI"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5440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2024: 7.759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Malaysia: 51.723</a:t>
            </a:r>
            <a:endParaRPr lang="en-US" sz="14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~60.000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2743200"/>
            <a:ext cx="5440680" cy="33832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292608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REALITAS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338328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 &amp; Taiwan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63640" y="402336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"62% dari semua PMI 2024"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4663440"/>
            <a:ext cx="5440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Kong: 99.773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Taiwan: 84.581</a:t>
            </a:r>
            <a:endParaRPr lang="en-US" sz="14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184.354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Tetapi 95% Hong Kong = PRT. Itu pasar jenuh, bukan pasar masa depan.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Penempatan PMI · KemenP2MI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500.000 PMI/tahun pada 2029.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di sektor vokasi formal.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3108960"/>
            <a:ext cx="1371600" cy="0"/>
          </a:xfrm>
          <a:prstGeom prst="line">
            <a:avLst/>
          </a:prstGeom>
          <a:noFill/>
          <a:ln w="38100">
            <a:solidFill>
              <a:srgbClr val="F4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383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migrasi tenaga kerja informal. Migrasi bakat vokasi.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361188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2976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297K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640080" y="55778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Worker: 42%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4206240"/>
            <a:ext cx="361188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42976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34840" y="470916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350K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4434840" y="55778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Worker: 55%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34840" y="58521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4206240"/>
            <a:ext cx="3611880" cy="20116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42976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0" y="470916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8229600" y="55778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Worker: 70%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58521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 Tercapai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Penempatan PMI · KemenP2MI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#1 — DEMAND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 juta posisi terbuka.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hanya menempati 10%.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2468880"/>
          <a:ext cx="6858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246888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2606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PELUANG TERBESAR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0" y="2926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&amp; Trades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772400" y="33832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hanya 3% padahal welder Indonesia diakui dunia.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0" y="4023360"/>
            <a:ext cx="36576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4206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CRITICAL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0" y="4526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Caregiving Eropa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772400" y="4983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Jerman 38K gap, Italia 5K gap badanti — Indonesia &lt;5%.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0" y="5760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Pemetaan 16 negara KemenP2MI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Penempatan PMI · KemenP2MI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#2 — STORY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 mengambil porsi yang seharusnya kita.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kasus: Jepang SSW (Specified Skilled Worker) per Januari 2025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611880" cy="21945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5603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🇻🇳 Vietnam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133.478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dari total SSW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2468880"/>
            <a:ext cx="3611880" cy="21945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25603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🇮🇩 Indonesia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34840" y="30175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53.538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434840" y="39319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dari total SSW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2468880"/>
            <a:ext cx="3611880" cy="21945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25603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🇵🇭 Filipina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30175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28.234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229600" y="39319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dari total SSW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11064240" cy="1280160"/>
          </a:xfrm>
          <a:prstGeom prst="rect">
            <a:avLst/>
          </a:prstGeom>
          <a:solidFill>
            <a:srgbClr val="FCF6F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0749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Cerita di balik angka: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 membangun 50+ Lembaga Pelatihan SSW, kerjasama JICA, kurikulum JLPT N4 + Skills Test 16 sektor sejak 2019. Indonesia baru memulai serius 2023 — kita 4 tahun terlambat.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Penempatan PMI · KemenP2MI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#3 — SALIENT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Pintu Eropa terbuka.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belum masuk.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Jerman Chancenkarte (Opportunity Card) — visa points-based untuk lulusan vokasi non-EU. Sejak Juni 2024.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5394960" cy="2743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52044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11.497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Chancenkarte terbit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8463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 2024 – Juni 2025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0" y="5349240"/>
            <a:ext cx="3017520" cy="0"/>
          </a:xfrm>
          <a:prstGeom prst="line">
            <a:avLst/>
          </a:prstGeom>
          <a:noFill/>
          <a:ln w="25400">
            <a:solidFill>
              <a:srgbClr val="F4B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4864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32% · China: 7% · Turki: 5%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8064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Indonesia: &lt;1%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3383280"/>
            <a:ext cx="5394960" cy="274320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INDONESIA LEWATKAN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400.000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6492240" y="4663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workers/tahun yang dibutuhkan Jerman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52120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lulusan SMK/BLK Indonesia: pintunya terbuka. Yang kurang: kursus Jerman A2 + sertifikasi ZAB.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Penempatan PMI · KemenP2MI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3 Tier untuk 16 negara.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9900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3611880" cy="45720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Jepang · Korea · Taiwan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3977640"/>
            <a:ext cx="269748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1148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2029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43891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350K PMI/tahun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49834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12 BULAN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53035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SSW LPK 50+ unit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EPS-TOPIK BLK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Recruitment Center G2G Taiwan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1828800"/>
            <a:ext cx="361188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2F3C7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1828800"/>
            <a:ext cx="3611880" cy="4572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18745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246888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Growth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Migration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17720" y="35204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Jerman · Australia · Kanada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92040" y="3977640"/>
            <a:ext cx="269748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41148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2029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43891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PMI/tahun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617720" y="49834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12 BULAN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53035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Chancenkarte campaign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IELTS 5.0+ prep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Trade certification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0" y="1828800"/>
            <a:ext cx="361188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7955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1828800"/>
            <a:ext cx="3611880" cy="457200"/>
          </a:xfrm>
          <a:prstGeom prst="rect">
            <a:avLst/>
          </a:prstGeom>
          <a:solidFill>
            <a:srgbClr val="795548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18745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0" y="246888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Diversifikasi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412480" y="35204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· UAE · Qatar · BH · KW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686800" y="3977640"/>
            <a:ext cx="269748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41148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2029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0" y="43891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80K PMI/tahun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412480" y="49834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12 BULAN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03920" y="53035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NEOM mega-project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MOHRE Skill Lvl 1-3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Healthcare/hospitality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Penempatan PMI · KemenP2MI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— PIPELINE PMI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1 PMI sampai di luar negeri.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tahap. 18 bulan. 5 stakeholder.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103120" cy="228600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5146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BLK / LPK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bln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2752344" y="3429000"/>
            <a:ext cx="118872" cy="182880"/>
          </a:xfrm>
          <a:prstGeom prst="rtTriangle">
            <a:avLst/>
          </a:prstGeom>
          <a:solidFill>
            <a:srgbClr val="999999"/>
          </a:solidFill>
          <a:ln/>
        </p:spPr>
      </p:sp>
      <p:sp>
        <p:nvSpPr>
          <p:cNvPr id="11" name="Shape 9"/>
          <p:cNvSpPr/>
          <p:nvPr/>
        </p:nvSpPr>
        <p:spPr>
          <a:xfrm>
            <a:off x="2880360" y="2377440"/>
            <a:ext cx="2103120" cy="2286000"/>
          </a:xfrm>
          <a:prstGeom prst="rect">
            <a:avLst/>
          </a:prstGeom>
          <a:solidFill>
            <a:srgbClr val="6B8FBE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25146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880360" y="3246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Sertifikasi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71800" y="3703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JLPT/EPS/IELTS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Skills Test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80360" y="4251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bln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5400000">
            <a:off x="4992624" y="3429000"/>
            <a:ext cx="118872" cy="182880"/>
          </a:xfrm>
          <a:prstGeom prst="rtTriangle">
            <a:avLst/>
          </a:prstGeom>
          <a:solidFill>
            <a:srgbClr val="999999"/>
          </a:solidFill>
          <a:ln/>
        </p:spPr>
      </p:sp>
      <p:sp>
        <p:nvSpPr>
          <p:cNvPr id="17" name="Shape 15"/>
          <p:cNvSpPr/>
          <p:nvPr/>
        </p:nvSpPr>
        <p:spPr>
          <a:xfrm>
            <a:off x="5120640" y="2377440"/>
            <a:ext cx="2103120" cy="2286000"/>
          </a:xfrm>
          <a:prstGeom prst="rect">
            <a:avLst/>
          </a:prstGeom>
          <a:solidFill>
            <a:srgbClr val="8DAEDC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25146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120640" y="3246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Job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12080" y="3703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P3MI / G2G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4251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bln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rot="5400000">
            <a:off x="7232904" y="3429000"/>
            <a:ext cx="118872" cy="182880"/>
          </a:xfrm>
          <a:prstGeom prst="rtTriangle">
            <a:avLst/>
          </a:prstGeom>
          <a:solidFill>
            <a:srgbClr val="999999"/>
          </a:solidFill>
          <a:ln/>
        </p:spPr>
      </p:sp>
      <p:sp>
        <p:nvSpPr>
          <p:cNvPr id="23" name="Shape 21"/>
          <p:cNvSpPr/>
          <p:nvPr/>
        </p:nvSpPr>
        <p:spPr>
          <a:xfrm>
            <a:off x="7360920" y="2377440"/>
            <a:ext cx="2103120" cy="2286000"/>
          </a:xfrm>
          <a:prstGeom prst="rect">
            <a:avLst/>
          </a:prstGeom>
          <a:solidFill>
            <a:srgbClr val="AECDF0"/>
          </a:solidFill>
          <a:ln/>
        </p:spPr>
      </p:sp>
      <p:sp>
        <p:nvSpPr>
          <p:cNvPr id="24" name="Text 22"/>
          <p:cNvSpPr/>
          <p:nvPr/>
        </p:nvSpPr>
        <p:spPr>
          <a:xfrm>
            <a:off x="7360920" y="25146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360920" y="3246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52360" y="3703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Embassy / IND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60920" y="4251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bln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rot="5400000">
            <a:off x="9473184" y="3429000"/>
            <a:ext cx="118872" cy="182880"/>
          </a:xfrm>
          <a:prstGeom prst="rtTriangle">
            <a:avLst/>
          </a:prstGeom>
          <a:solidFill>
            <a:srgbClr val="999999"/>
          </a:solidFill>
          <a:ln/>
        </p:spPr>
      </p:sp>
      <p:sp>
        <p:nvSpPr>
          <p:cNvPr id="29" name="Shape 27"/>
          <p:cNvSpPr/>
          <p:nvPr/>
        </p:nvSpPr>
        <p:spPr>
          <a:xfrm>
            <a:off x="9601200" y="2377440"/>
            <a:ext cx="2103120" cy="228600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0" y="25146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9601200" y="3246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Penempatan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692640" y="3703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Negara Tujuan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01200" y="4251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12-60 bln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5029200"/>
            <a:ext cx="11064240" cy="1371600"/>
          </a:xfrm>
          <a:prstGeom prst="rect">
            <a:avLst/>
          </a:prstGeom>
          <a:solidFill>
            <a:srgbClr val="FFF3CD"/>
          </a:solidFill>
          <a:ln w="25400">
            <a:solidFill>
              <a:srgbClr val="F4B4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1206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BOTTLENECK SAAT INI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5440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1-2: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30% BLK Indonesia mampu siapkan JLPT N4 + Skills Test SSW. Hanya 5 LPK terstandar Chancenkarte. </a:t>
            </a:r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Solusi: </a:t>
            </a:r>
            <a:pPr indent="0" marL="0">
              <a:buNone/>
            </a:pPr>
            <a:r>
              <a:rPr lang="en-US" sz="14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BLK Premium dengan kurikulum negara-spesifik dan sertifikasi yang diakui internasional.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Penempatan PMI · KemenP2MI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QUICK WINS · 12 BULAN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konkret yang bisa eksekusi sekarang.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822960" cy="91440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Chancenkarte Jerman Push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21945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BLK Premium A2 German + ZAB recognition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8952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visa/thn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9520" y="2194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~500 saat ini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697480"/>
            <a:ext cx="822960" cy="91440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974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4592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Decreto Flussi Italia Bilateral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45920" y="3154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Negosiasi pemerintah-ke-pemerintah Q2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0" y="2788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13.6K caregiver slot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589520" y="3154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 prioritas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657600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657600"/>
            <a:ext cx="822960" cy="91440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576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4592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Singapura NTS List Capture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45920" y="41148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Ekspansi NTS Sep 2025 — peluang baru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89520" y="3749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dari 22K gap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589520" y="4114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vehicle drivers, cooks, manufacturing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617720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617720"/>
            <a:ext cx="822960" cy="91440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6177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45920" y="4709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 Skilled Upgrade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645920" y="5074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Bantu PMI eksisting upgrade ke skilled tier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89520" y="4709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16.500 gap intermediate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589520" y="5074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→ Mfg NT$33K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5577840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5577840"/>
            <a:ext cx="822960" cy="91440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557784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645920" y="5669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 ESLS/CSS Entry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645920" y="6035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test + manning ratio compliance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589520" y="5669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PMI baru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7589520" y="6035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Diversifikasi dari FDH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Penempatan PMI · KemenP2MI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· BAGAIMANA KITA TAHU INI BERHASIL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angka untuk dipantau setiap kuartal.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103120" cy="43891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297K → 500K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88720" y="3931920"/>
            <a:ext cx="1005840" cy="0"/>
          </a:xfrm>
          <a:prstGeom prst="line">
            <a:avLst/>
          </a:prstGeom>
          <a:noFill/>
          <a:ln w="25400">
            <a:solidFill>
              <a:srgbClr val="F4B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062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per tahun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1206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→ 2029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1828800"/>
            <a:ext cx="2103120" cy="43891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2971800" y="22860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→ 70%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29000" y="3931920"/>
            <a:ext cx="1005840" cy="0"/>
          </a:xfrm>
          <a:prstGeom prst="line">
            <a:avLst/>
          </a:prstGeom>
          <a:noFill/>
          <a:ln w="254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42062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vokasi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71800" y="51206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→ 15% domestic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1828800"/>
            <a:ext cx="2103120" cy="43891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2860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53K → 170K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669280" y="3931920"/>
            <a:ext cx="1005840" cy="0"/>
          </a:xfrm>
          <a:prstGeom prst="line">
            <a:avLst/>
          </a:prstGeom>
          <a:noFill/>
          <a:ln w="25400">
            <a:solidFill>
              <a:srgbClr val="F4B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42062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Jepang SSW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51206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 100K target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60920" y="1828800"/>
            <a:ext cx="2103120" cy="43891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7452360" y="22860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Rp200T → Rp450T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909560" y="3931920"/>
            <a:ext cx="1005840" cy="0"/>
          </a:xfrm>
          <a:prstGeom prst="line">
            <a:avLst/>
          </a:prstGeom>
          <a:noFill/>
          <a:ln w="25400">
            <a:solidFill>
              <a:srgbClr val="F4B4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42062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Remitansi PMI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52360" y="51206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+125% growth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01200" y="1828800"/>
            <a:ext cx="2103120" cy="43891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5" name="Text 23"/>
          <p:cNvSpPr/>
          <p:nvPr/>
        </p:nvSpPr>
        <p:spPr>
          <a:xfrm>
            <a:off x="9692640" y="22860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→ 50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0149840" y="3931920"/>
            <a:ext cx="1005840" cy="0"/>
          </a:xfrm>
          <a:prstGeom prst="line">
            <a:avLst/>
          </a:prstGeom>
          <a:noFill/>
          <a:ln w="25400">
            <a:solidFill>
              <a:srgbClr val="F4B4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0" y="42062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Negara aktif kerjasama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92640" y="51206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MoU detail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Penempatan PMI · KemenP2MI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66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572000"/>
            <a:ext cx="3657600" cy="365760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PMI yang berangkat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adalah duta vokasi Indonesia.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4480560"/>
            <a:ext cx="1828800" cy="0"/>
          </a:xfrm>
          <a:prstGeom prst="line">
            <a:avLst/>
          </a:prstGeom>
          <a:noFill/>
          <a:ln w="50800">
            <a:solidFill>
              <a:srgbClr val="F4B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beban negara. Bukan komoditas.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Aset strategis bangsa.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Penempatan PMI · KemenP2MI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SAYA BAWAKAN HARI INI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kontribusi dokumen ini.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40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20574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Pemetaan 16 Negara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56032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69+ jenis visa terverifikasi dari sumber primer pemerintah; persyaratan, kuota, dan upah real-time.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440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178040" y="20574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Demand-Supply Gap Analysis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78040" y="256032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~6,5 juta posisi terbuka; gap terbesar dipetakan per job family; Indonesia hanya menempati 10%.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440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06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645920" y="42519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3 Tier Konkret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45920" y="475488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(Asia Timur · 350K) · Tier 2 (Eropa/Amerika · 50K) · Tier 3 (GCC · 80K) dengan aksi spesifik.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4023360"/>
            <a:ext cx="5440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4206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178040" y="42519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Quick Wins 12 Bulan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78040" y="475488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Chancenkarte · Decreto Flussi · Singapore NTS · Taiwan Upgrade · HK ESLS — eksekusi tahun ini.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6217920"/>
            <a:ext cx="11064240" cy="2743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6217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Eksekusi dimulai sekarang. Reports A &amp; B + dashboard interaktif tersedia.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 Penempatan PMI Skilled Worker Vokasi</dc:title>
  <dc:subject>PptxGenJS Presentation</dc:subject>
  <dc:creator>KemenP2MI - Strategi Penempatan PMI</dc:creator>
  <cp:lastModifiedBy>KemenP2MI - Strategi Penempatan PMI</cp:lastModifiedBy>
  <cp:revision>1</cp:revision>
  <dcterms:created xsi:type="dcterms:W3CDTF">2026-04-27T01:57:34Z</dcterms:created>
  <dcterms:modified xsi:type="dcterms:W3CDTF">2026-04-27T01:57:34Z</dcterms:modified>
</cp:coreProperties>
</file>